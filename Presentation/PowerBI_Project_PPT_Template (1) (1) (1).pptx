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70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BANK LOAN DEFAULT RISK DASHBOARD 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Summer Training — Power BI | [Chandigarh Engineering College]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Anuj Chauhan</a:t>
            </a: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|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2420671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(AI/DS)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 Ashima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06-07-2026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708656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729865"/>
            <a:ext cx="384175" cy="363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52141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356483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3075" y="3365627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3356483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383153"/>
            <a:ext cx="384048" cy="384048"/>
          </a:xfrm>
          <a:prstGeom prst="ellipse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3360547"/>
            <a:ext cx="3840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396488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Banks need to identify high-risk borrowers to reduce loan defaults and improve lending decisions.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22095"/>
            <a:ext cx="365760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US" sz="1100" dirty="0"/>
              <a:t>The risk management team needs an interactive dashboard to monitor loan default risk across different loan grades, income bands, and loan purposes. The objective is to identify high-risk segments, track default rates, and support data-driven lending decisions using key risk metrics and visual analytics.</a:t>
            </a:r>
            <a:endParaRPr lang="en-US" alt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Risk Management Team</a:t>
            </a:r>
            <a:endParaRPr lang="en-US" alt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Credit Risk Analysts</a:t>
            </a:r>
            <a:endParaRPr lang="en-US" alt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Loan Portfolio Managers</a:t>
            </a:r>
            <a:endParaRPr lang="en-US" alt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Senior Management / Decision Makers</a:t>
            </a:r>
            <a:endParaRPr lang="en-US" alt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88208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50" dirty="0"/>
              <a:t>Analyze loan default rates across different loan grades, income bands, and loan purposes.</a:t>
            </a:r>
            <a:endParaRPr lang="en-US" altLang="en-US" sz="1150" dirty="0"/>
          </a:p>
          <a:p>
            <a:pPr marL="0" indent="0">
              <a:buNone/>
            </a:pPr>
            <a:endParaRPr lang="en-US" alt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50" dirty="0"/>
              <a:t>Identify high-risk customer segments to support proactive risk management</a:t>
            </a:r>
            <a:endParaRPr lang="en-US" altLang="en-US" sz="1150" dirty="0"/>
          </a:p>
          <a:p>
            <a:pPr marL="0" indent="0">
              <a:buNone/>
            </a:pPr>
            <a:endParaRPr lang="en-US" alt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44112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941064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50" dirty="0"/>
              <a:t>Develop an interactive Power BI dashboard for real-time loan portfolio analysis.</a:t>
            </a:r>
            <a:endParaRPr lang="en-US" alt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154553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50" dirty="0"/>
              <a:t>Calculate and monitor key risk metrics using DAX measures such as total loans, default count, and default rate.</a:t>
            </a:r>
            <a:endParaRPr lang="en-US" altLang="en-US" sz="1150" dirty="0"/>
          </a:p>
          <a:p>
            <a:pPr marL="0" indent="0">
              <a:buNone/>
            </a:pPr>
            <a:endParaRPr lang="en-US" alt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3657600"/>
            <a:ext cx="201168" cy="201168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59359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50" dirty="0"/>
              <a:t>Support data-driven lending decisions by providing clear visual insights into loan performance and default trends</a:t>
            </a:r>
            <a:endParaRPr lang="en-US" alt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Kaggle 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Type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1,55,456</a:t>
            </a:r>
            <a:endParaRPr lang="en-IN" altLang="en-US" sz="3000" b="1" dirty="0">
              <a:solidFill>
                <a:srgbClr val="1B3A6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altLang="en-US" sz="30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145</a:t>
            </a:r>
            <a:endParaRPr lang="en-IN" altLang="en-US" sz="3000" b="1" dirty="0">
              <a:solidFill>
                <a:srgbClr val="1B3A6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Columns</a:t>
            </a:r>
            <a:endParaRPr lang="en-US" sz="120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4490" y="2377440"/>
            <a:ext cx="8505190" cy="1100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25312" y="2724912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3072384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25312" y="3419856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25312" y="3767328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25312" y="4114800"/>
            <a:ext cx="3017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34" name="Text Box 33"/>
          <p:cNvSpPr txBox="1"/>
          <p:nvPr/>
        </p:nvSpPr>
        <p:spPr>
          <a:xfrm>
            <a:off x="245745" y="2511425"/>
            <a:ext cx="86239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/>
              <a:t>The original dataset contained 155,456 rows and 145 columns. To improve processing efficiency and focus on relevant analysis, a sampling technique was applied to randomly select 30,000 records. The sampled dataset was then cleaned and preprocessed using Python (Pandas), resulting in a final dataset of 30,000 rows and 17 columns used for this project.</a:t>
            </a:r>
            <a:endParaRPr lang="en-US" altLang="en-US" sz="1400"/>
          </a:p>
        </p:txBody>
      </p:sp>
      <p:sp>
        <p:nvSpPr>
          <p:cNvPr id="17" name="Text Box 16"/>
          <p:cNvSpPr txBox="1"/>
          <p:nvPr/>
        </p:nvSpPr>
        <p:spPr>
          <a:xfrm>
            <a:off x="2019935" y="36550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27330" y="114300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Key Columns Used</a:t>
            </a:r>
            <a:endParaRPr lang="en-US" sz="1400" b="1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b="1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300" b="1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340360" y="433705"/>
          <a:ext cx="3497580" cy="4152900"/>
        </p:xfrm>
        <a:graphic>
          <a:graphicData uri="http://schemas.openxmlformats.org/drawingml/2006/table">
            <a:tbl>
              <a:tblPr/>
              <a:tblGrid>
                <a:gridCol w="1303020"/>
                <a:gridCol w="2194560"/>
              </a:tblGrid>
              <a:tr h="318135">
                <a:tc>
                  <a:txBody>
                    <a:bodyPr/>
                    <a:p>
                      <a:pPr algn="l"/>
                      <a:r>
                        <a:rPr lang="en-US" altLang="zh-CN" sz="1400" b="1"/>
                        <a:t>Column Name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400" b="1"/>
                        <a:t>Role in Dashboard</a:t>
                      </a:r>
                      <a:endParaRPr lang="en-US" altLang="zh-CN"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Loan_Amount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Loan value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Funded_Amount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Amount funded by lender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Term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Loan duration (36/60 months)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Int_Rate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Interest rate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Grade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Credit risk segmentation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Annual_Income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Borrower income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Purpose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Loan purpose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Home_Ownership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Borrower housing status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Employment_Length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Employment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DTI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Debt-to-Income (DTI) ratio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Loan_Status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Default vs Fully Paid analysis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8135"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Income_Band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1"/>
                        <a:t>Borrower income band categorization</a:t>
                      </a:r>
                      <a:endParaRPr lang="en-US" altLang="zh-CN"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4371340" y="127000"/>
            <a:ext cx="4572000" cy="252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Data Quality Steps </a:t>
            </a:r>
            <a:endParaRPr lang="en-US" b="1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400" b="1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Reduced dataset from 155,</a:t>
            </a:r>
            <a:r>
              <a:rPr lang="en-IN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456</a:t>
            </a: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rows &amp; </a:t>
            </a:r>
            <a:r>
              <a:rPr lang="en-IN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145</a:t>
            </a: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columns to 30,000 rows &amp; 17 columns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Removed unnecessary columns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Filtered and retained only relevant records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Handled missing (null) values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Corrected data types (Text, Number)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Created Income_Band column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Created Default_Status column for loan classification Renamed columns for better readability</a:t>
            </a:r>
            <a:endParaRPr lang="en-US" altLang="en-US" sz="1400" dirty="0">
              <a:solidFill>
                <a:srgbClr val="1B3A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60" y="10972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08760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0" y="1481328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100" b="1" dirty="0"/>
              <a:t>KPI Cards</a:t>
            </a:r>
            <a:r>
              <a:rPr lang="en-US" altLang="en-US" sz="1100" dirty="0"/>
              <a:t> – Total Loans, Default Loans, Default Rate %, Fully Paid Loans</a:t>
            </a:r>
            <a:endParaRPr lang="en-US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929384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480" y="1901825"/>
            <a:ext cx="3006725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Clustered Bar Chart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Default Rate by Loan Grade , Default Loans by 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2350008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2322576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Donut Chart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Loan Distribution by Income Band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2770632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Clustered Column Chart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Default Rate% by Income Band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191256"/>
            <a:ext cx="182880" cy="1828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3163824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 </a:t>
            </a: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Grade,Income Band,Purpose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65760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Low-income borrowers and lower loan grades show the highest default risk</a:t>
            </a:r>
            <a:endParaRPr lang="en-US" alt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2" name="Picture 21" descr="Screenshot 2026-07-05 181729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05" y="1050925"/>
            <a:ext cx="5413375" cy="3806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/>
              <a:t>Most loans are fully paid, with a default rate of only 1.86%</a:t>
            </a:r>
            <a:endParaRPr lang="en-US" alt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/>
              <a:t>Low-income borrowers have the highest loan default rate</a:t>
            </a:r>
            <a:endParaRPr lang="en-US" alt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/>
              <a:t>Grade G loans show the highest default risk among all loan grades</a:t>
            </a:r>
            <a:endParaRPr lang="en-US" alt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/>
              <a:t>Debt consolidation is the leading purpose of defaulted loans.</a:t>
            </a:r>
            <a:endParaRPr lang="en-US" alt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dirty="0"/>
              <a:t>Income level, loan grade, and loan purpose are the key factors influencing loan default risk</a:t>
            </a:r>
            <a:endParaRPr lang="en-US" alt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built a Loan Default Risk Dashboard using 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high-risk borrowers based on income,loan grade,and loan purpose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interactive dashboards using DAX measures , charts and slicers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scope:  Add machine learning to predict loan defaults more accurately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WPS Presentation</Application>
  <PresentationFormat>On-screen Show (16:9)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Aptos</vt:lpstr>
      <vt:lpstr>Segoe UI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creator>PptxGenJS</dc:creator>
  <dc:subject>PptxGenJS Presentation</dc:subject>
  <cp:lastModifiedBy>Anuj Chauhan</cp:lastModifiedBy>
  <cp:revision>11</cp:revision>
  <dcterms:created xsi:type="dcterms:W3CDTF">2026-06-29T04:56:00Z</dcterms:created>
  <dcterms:modified xsi:type="dcterms:W3CDTF">2026-07-05T13:00:15Z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6E04D151536E4413A2D2818757DB8249_12</vt:lpwstr>
  </property>
</Properties>
</file>